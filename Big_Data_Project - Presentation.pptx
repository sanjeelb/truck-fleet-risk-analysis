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503030501040103" pitchFamily="34" charset="0"/>
      <p:regular r:id="rId14"/>
    </p:embeddedFont>
    <p:embeddedFont>
      <p:font typeface="Now Bold" pitchFamily="2" charset="77"/>
      <p:regular r:id="rId15"/>
      <p:bold r:id="rId16"/>
    </p:embeddedFont>
    <p:embeddedFont>
      <p:font typeface="Open Sauce" pitchFamily="2" charset="77"/>
      <p:regular r:id="rId17"/>
    </p:embeddedFont>
    <p:embeddedFont>
      <p:font typeface="Open Sauce Bold" pitchFamily="2" charset="77"/>
      <p:regular r:id="rId18"/>
      <p:bold r:id="rId19"/>
    </p:embeddedFont>
    <p:embeddedFont>
      <p:font typeface="Open Sauce Bold Italics" pitchFamily="2" charset="77"/>
      <p:regular r:id="rId20"/>
      <p:bold r:id="rId21"/>
      <p:italic r:id="rId22"/>
      <p:boldItalic r:id="rId23"/>
    </p:embeddedFont>
    <p:embeddedFont>
      <p:font typeface="Open Sauce Heavy" pitchFamily="2" charset="77"/>
      <p:regular r:id="rId24"/>
      <p:bold r:id="rId25"/>
    </p:embeddedFont>
    <p:embeddedFont>
      <p:font typeface="Open Sauce Light" pitchFamily="2" charset="77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30" autoAdjust="0"/>
  </p:normalViewPr>
  <p:slideViewPr>
    <p:cSldViewPr>
      <p:cViewPr varScale="1">
        <p:scale>
          <a:sx n="75" d="100"/>
          <a:sy n="75" d="100"/>
        </p:scale>
        <p:origin x="6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89463" y="9194502"/>
            <a:ext cx="974732" cy="190323"/>
            <a:chOff x="0" y="0"/>
            <a:chExt cx="2198440" cy="429260"/>
          </a:xfrm>
        </p:grpSpPr>
        <p:sp>
          <p:nvSpPr>
            <p:cNvPr id="3" name="Freeform 3"/>
            <p:cNvSpPr/>
            <p:nvPr/>
          </p:nvSpPr>
          <p:spPr>
            <a:xfrm>
              <a:off x="0" y="-5080"/>
              <a:ext cx="2198440" cy="434340"/>
            </a:xfrm>
            <a:custGeom>
              <a:avLst/>
              <a:gdLst/>
              <a:ahLst/>
              <a:cxnLst/>
              <a:rect l="l" t="t" r="r" b="b"/>
              <a:pathLst>
                <a:path w="2198440" h="434340">
                  <a:moveTo>
                    <a:pt x="2180660" y="187960"/>
                  </a:moveTo>
                  <a:lnTo>
                    <a:pt x="1919040" y="11430"/>
                  </a:lnTo>
                  <a:cubicBezTo>
                    <a:pt x="1901260" y="0"/>
                    <a:pt x="1878400" y="3810"/>
                    <a:pt x="1865700" y="21590"/>
                  </a:cubicBezTo>
                  <a:cubicBezTo>
                    <a:pt x="1854270" y="39370"/>
                    <a:pt x="1858081" y="62230"/>
                    <a:pt x="1875860" y="74930"/>
                  </a:cubicBezTo>
                  <a:lnTo>
                    <a:pt x="2034610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2034610" y="257810"/>
                  </a:lnTo>
                  <a:lnTo>
                    <a:pt x="1875860" y="364490"/>
                  </a:lnTo>
                  <a:cubicBezTo>
                    <a:pt x="1858081" y="375920"/>
                    <a:pt x="1854270" y="400050"/>
                    <a:pt x="1865701" y="417830"/>
                  </a:cubicBezTo>
                  <a:cubicBezTo>
                    <a:pt x="1873320" y="429260"/>
                    <a:pt x="1884751" y="434340"/>
                    <a:pt x="1897451" y="434340"/>
                  </a:cubicBezTo>
                  <a:cubicBezTo>
                    <a:pt x="1905070" y="434340"/>
                    <a:pt x="1912690" y="431800"/>
                    <a:pt x="1919040" y="427990"/>
                  </a:cubicBezTo>
                  <a:lnTo>
                    <a:pt x="2181931" y="251460"/>
                  </a:lnTo>
                  <a:cubicBezTo>
                    <a:pt x="2192090" y="243840"/>
                    <a:pt x="2198440" y="232410"/>
                    <a:pt x="2198440" y="219710"/>
                  </a:cubicBezTo>
                  <a:cubicBezTo>
                    <a:pt x="2198440" y="207010"/>
                    <a:pt x="2192090" y="195580"/>
                    <a:pt x="2180660" y="18796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8467" y="0"/>
            <a:ext cx="18288000" cy="107823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-65571" r="-271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609725" y="2816343"/>
            <a:ext cx="13990080" cy="485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807"/>
              </a:lnSpc>
            </a:pPr>
            <a:r>
              <a:rPr lang="en-US" sz="10672">
                <a:solidFill>
                  <a:srgbClr val="FFFFFF"/>
                </a:solidFill>
                <a:latin typeface="Open Sauce Light"/>
              </a:rPr>
              <a:t>Truck Drivers Risk </a:t>
            </a:r>
          </a:p>
          <a:p>
            <a:pPr>
              <a:lnSpc>
                <a:spcPts val="12807"/>
              </a:lnSpc>
            </a:pPr>
            <a:r>
              <a:rPr lang="en-US" sz="10672">
                <a:solidFill>
                  <a:srgbClr val="FFFFFF"/>
                </a:solidFill>
                <a:latin typeface="Open Sauce Light"/>
              </a:rPr>
              <a:t>Analysis</a:t>
            </a:r>
          </a:p>
          <a:p>
            <a:pPr>
              <a:lnSpc>
                <a:spcPts val="12807"/>
              </a:lnSpc>
            </a:pPr>
            <a:endParaRPr lang="en-US" sz="10672">
              <a:solidFill>
                <a:srgbClr val="FFFFFF"/>
              </a:solidFill>
              <a:latin typeface="Open Sauc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02016" y="0"/>
            <a:ext cx="7514569" cy="10596688"/>
            <a:chOff x="0" y="0"/>
            <a:chExt cx="10019425" cy="1412891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0909" r="31844"/>
            <a:stretch>
              <a:fillRect/>
            </a:stretch>
          </p:blipFill>
          <p:spPr>
            <a:xfrm>
              <a:off x="0" y="0"/>
              <a:ext cx="10019425" cy="14128917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028700" y="306546"/>
            <a:ext cx="8804702" cy="882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82"/>
              </a:lnSpc>
            </a:pPr>
            <a:r>
              <a:rPr lang="en-US" sz="5525" dirty="0">
                <a:solidFill>
                  <a:srgbClr val="000000"/>
                </a:solidFill>
                <a:latin typeface="Open Sauce Bold"/>
              </a:rPr>
              <a:t>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8219" y="1645633"/>
            <a:ext cx="11829016" cy="324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779" lvl="1" indent="-267890">
              <a:lnSpc>
                <a:spcPts val="3226"/>
              </a:lnSpc>
              <a:buFont typeface="Arial"/>
              <a:buChar char="•"/>
            </a:pPr>
            <a:r>
              <a:rPr lang="en-US" sz="2481" dirty="0">
                <a:solidFill>
                  <a:srgbClr val="000000"/>
                </a:solidFill>
                <a:latin typeface="Open Sauce Bold"/>
              </a:rPr>
              <a:t>TO ANALYZE DATA AND CREATE DECISION-MAKER REPORTS AND VISUALS USING HADOOP TECHNOLOGIES.</a:t>
            </a:r>
          </a:p>
          <a:p>
            <a:pPr marL="535779" lvl="1" indent="-267890">
              <a:lnSpc>
                <a:spcPts val="3226"/>
              </a:lnSpc>
              <a:buFont typeface="Arial"/>
              <a:buChar char="•"/>
            </a:pPr>
            <a:r>
              <a:rPr lang="en-US" sz="2481" dirty="0">
                <a:solidFill>
                  <a:srgbClr val="000000"/>
                </a:solidFill>
                <a:latin typeface="Open Sauce Bold"/>
              </a:rPr>
              <a:t>To evaluate location and event instances of each vehicle to enhance truck safety.</a:t>
            </a:r>
          </a:p>
          <a:p>
            <a:pPr marL="535779" lvl="1" indent="-267890">
              <a:lnSpc>
                <a:spcPts val="3226"/>
              </a:lnSpc>
              <a:buFont typeface="Arial"/>
              <a:buChar char="•"/>
            </a:pPr>
            <a:r>
              <a:rPr lang="en-US" sz="2481" dirty="0">
                <a:solidFill>
                  <a:srgbClr val="000000"/>
                </a:solidFill>
                <a:latin typeface="Open Sauce Bold"/>
              </a:rPr>
              <a:t>IDENTIFY DANGEROUS COMMERCIAL TRUCK DRIVERS ACROSS THE COUNTRY.</a:t>
            </a:r>
          </a:p>
          <a:p>
            <a:pPr marL="535779" lvl="1" indent="-267890">
              <a:lnSpc>
                <a:spcPts val="3226"/>
              </a:lnSpc>
              <a:buFont typeface="Arial"/>
              <a:buChar char="•"/>
            </a:pPr>
            <a:r>
              <a:rPr lang="en-US" sz="2481" dirty="0">
                <a:solidFill>
                  <a:srgbClr val="000000"/>
                </a:solidFill>
                <a:latin typeface="Open Sauce Bold"/>
              </a:rPr>
              <a:t>To use truck fleet data to improve risk assessment.</a:t>
            </a:r>
          </a:p>
          <a:p>
            <a:pPr>
              <a:lnSpc>
                <a:spcPts val="3226"/>
              </a:lnSpc>
              <a:spcBef>
                <a:spcPct val="0"/>
              </a:spcBef>
            </a:pPr>
            <a:endParaRPr lang="en-US" sz="2481" dirty="0">
              <a:solidFill>
                <a:srgbClr val="000000"/>
              </a:solidFill>
              <a:latin typeface="Open Sauc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2497183" y="5086350"/>
            <a:ext cx="15429806" cy="88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8"/>
              </a:lnSpc>
            </a:pPr>
            <a:r>
              <a:rPr lang="en-US" sz="5529">
                <a:solidFill>
                  <a:srgbClr val="000000"/>
                </a:solidFill>
                <a:latin typeface="Open Sauce Bold"/>
              </a:rPr>
              <a:t>PROBLEM STATEMENT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8219" y="5436997"/>
            <a:ext cx="11741400" cy="464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49"/>
              </a:lnSpc>
            </a:pPr>
            <a:endParaRPr dirty="0"/>
          </a:p>
          <a:p>
            <a:pPr>
              <a:lnSpc>
                <a:spcPts val="3749"/>
              </a:lnSpc>
            </a:pPr>
            <a:endParaRPr dirty="0"/>
          </a:p>
          <a:p>
            <a:pPr marL="539748" lvl="1" indent="-269874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 Bold"/>
              </a:rPr>
              <a:t>TO IDENTIFY DRIVERS WITH HIGHEST RISK FACTOR IN THE STATE OF CALIFORNIA.</a:t>
            </a:r>
          </a:p>
          <a:p>
            <a:pPr marL="539748" lvl="1" indent="-269874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 Bold"/>
              </a:rPr>
              <a:t>TO IDENTIFY BEST TIME FOR SERVICE BASED ON MILES.</a:t>
            </a:r>
          </a:p>
          <a:p>
            <a:pPr marL="539748" lvl="1" indent="-269874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 Bold"/>
              </a:rPr>
              <a:t>PREDICT THE RISK BASED ON EVENTS AND TOTAL MILES DRIVEN.</a:t>
            </a:r>
          </a:p>
          <a:p>
            <a:pPr marL="539748" lvl="1" indent="-269874">
              <a:lnSpc>
                <a:spcPts val="374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Open Sauce Bold"/>
              </a:rPr>
              <a:t>TO IDENTIFY THE RISKY TRUCKS USED FOR TRANSPORTATION.</a:t>
            </a:r>
          </a:p>
          <a:p>
            <a:pPr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Open Sauce Bold"/>
            </a:endParaRPr>
          </a:p>
          <a:p>
            <a:pPr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Open Sauce Bold"/>
            </a:endParaRPr>
          </a:p>
          <a:p>
            <a:pPr>
              <a:lnSpc>
                <a:spcPts val="3749"/>
              </a:lnSpc>
            </a:pPr>
            <a:endParaRPr lang="en-US" sz="2499" dirty="0">
              <a:solidFill>
                <a:srgbClr val="000000"/>
              </a:solidFill>
              <a:latin typeface="Open Sauc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35148" y="0"/>
            <a:ext cx="2314148" cy="4781145"/>
            <a:chOff x="0" y="0"/>
            <a:chExt cx="660400" cy="1364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1364419"/>
            </a:xfrm>
            <a:custGeom>
              <a:avLst/>
              <a:gdLst/>
              <a:ahLst/>
              <a:cxnLst/>
              <a:rect l="l" t="t" r="r" b="b"/>
              <a:pathLst>
                <a:path w="660400" h="1364419">
                  <a:moveTo>
                    <a:pt x="220252" y="1345350"/>
                  </a:moveTo>
                  <a:cubicBezTo>
                    <a:pt x="254109" y="1356864"/>
                    <a:pt x="292600" y="1364419"/>
                    <a:pt x="330378" y="1364419"/>
                  </a:cubicBezTo>
                  <a:cubicBezTo>
                    <a:pt x="368157" y="1364419"/>
                    <a:pt x="404509" y="1357942"/>
                    <a:pt x="438009" y="1346428"/>
                  </a:cubicBezTo>
                  <a:cubicBezTo>
                    <a:pt x="438723" y="1346069"/>
                    <a:pt x="439435" y="1346069"/>
                    <a:pt x="440148" y="1345710"/>
                  </a:cubicBezTo>
                  <a:cubicBezTo>
                    <a:pt x="565955" y="1299654"/>
                    <a:pt x="658618" y="1178040"/>
                    <a:pt x="660400" y="10236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22905"/>
                  </a:lnTo>
                  <a:cubicBezTo>
                    <a:pt x="1782" y="1178759"/>
                    <a:pt x="93019" y="1300375"/>
                    <a:pt x="220252" y="1345350"/>
                  </a:cubicBezTo>
                  <a:close/>
                </a:path>
              </a:pathLst>
            </a:custGeom>
            <a:solidFill>
              <a:srgbClr val="2C8CC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60400" cy="1294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5046" y="0"/>
            <a:ext cx="2571967" cy="5802861"/>
            <a:chOff x="0" y="0"/>
            <a:chExt cx="660400" cy="14899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1489992"/>
            </a:xfrm>
            <a:custGeom>
              <a:avLst/>
              <a:gdLst/>
              <a:ahLst/>
              <a:cxnLst/>
              <a:rect l="l" t="t" r="r" b="b"/>
              <a:pathLst>
                <a:path w="660400" h="1489992">
                  <a:moveTo>
                    <a:pt x="220252" y="1470922"/>
                  </a:moveTo>
                  <a:cubicBezTo>
                    <a:pt x="254109" y="1482436"/>
                    <a:pt x="292600" y="1489992"/>
                    <a:pt x="330378" y="1489992"/>
                  </a:cubicBezTo>
                  <a:cubicBezTo>
                    <a:pt x="368157" y="1489992"/>
                    <a:pt x="404509" y="1483514"/>
                    <a:pt x="438009" y="1472001"/>
                  </a:cubicBezTo>
                  <a:cubicBezTo>
                    <a:pt x="438723" y="1471641"/>
                    <a:pt x="439435" y="1471641"/>
                    <a:pt x="440148" y="1471282"/>
                  </a:cubicBezTo>
                  <a:cubicBezTo>
                    <a:pt x="565955" y="1425227"/>
                    <a:pt x="658618" y="1303613"/>
                    <a:pt x="660400" y="114644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45596"/>
                  </a:lnTo>
                  <a:cubicBezTo>
                    <a:pt x="1782" y="1304331"/>
                    <a:pt x="93019" y="1425947"/>
                    <a:pt x="220252" y="1470922"/>
                  </a:cubicBezTo>
                  <a:close/>
                </a:path>
              </a:pathLst>
            </a:custGeom>
            <a:solidFill>
              <a:srgbClr val="36B7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60400" cy="1420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92763" y="0"/>
            <a:ext cx="2735241" cy="6679512"/>
            <a:chOff x="0" y="0"/>
            <a:chExt cx="660400" cy="16127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1612710"/>
            </a:xfrm>
            <a:custGeom>
              <a:avLst/>
              <a:gdLst/>
              <a:ahLst/>
              <a:cxnLst/>
              <a:rect l="l" t="t" r="r" b="b"/>
              <a:pathLst>
                <a:path w="660400" h="1612710">
                  <a:moveTo>
                    <a:pt x="220252" y="1593641"/>
                  </a:moveTo>
                  <a:cubicBezTo>
                    <a:pt x="254109" y="1605155"/>
                    <a:pt x="292600" y="1612710"/>
                    <a:pt x="330378" y="1612710"/>
                  </a:cubicBezTo>
                  <a:cubicBezTo>
                    <a:pt x="368157" y="1612710"/>
                    <a:pt x="404509" y="1606233"/>
                    <a:pt x="438009" y="1594719"/>
                  </a:cubicBezTo>
                  <a:cubicBezTo>
                    <a:pt x="438723" y="1594359"/>
                    <a:pt x="439435" y="1594359"/>
                    <a:pt x="440148" y="1594000"/>
                  </a:cubicBezTo>
                  <a:cubicBezTo>
                    <a:pt x="565955" y="1547945"/>
                    <a:pt x="658618" y="1426331"/>
                    <a:pt x="660400" y="12664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65500"/>
                  </a:lnTo>
                  <a:cubicBezTo>
                    <a:pt x="1782" y="1427050"/>
                    <a:pt x="93019" y="1548665"/>
                    <a:pt x="220252" y="1593641"/>
                  </a:cubicBezTo>
                  <a:close/>
                </a:path>
              </a:pathLst>
            </a:custGeom>
            <a:solidFill>
              <a:srgbClr val="3CBDB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660400" cy="1542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213754" y="-1084"/>
            <a:ext cx="2979675" cy="7662724"/>
            <a:chOff x="0" y="0"/>
            <a:chExt cx="660400" cy="169832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" cy="1698327"/>
            </a:xfrm>
            <a:custGeom>
              <a:avLst/>
              <a:gdLst/>
              <a:ahLst/>
              <a:cxnLst/>
              <a:rect l="l" t="t" r="r" b="b"/>
              <a:pathLst>
                <a:path w="660400" h="1698327">
                  <a:moveTo>
                    <a:pt x="220252" y="1679258"/>
                  </a:moveTo>
                  <a:cubicBezTo>
                    <a:pt x="254109" y="1690772"/>
                    <a:pt x="292600" y="1698327"/>
                    <a:pt x="330378" y="1698327"/>
                  </a:cubicBezTo>
                  <a:cubicBezTo>
                    <a:pt x="368157" y="1698327"/>
                    <a:pt x="404509" y="1691850"/>
                    <a:pt x="438009" y="1680336"/>
                  </a:cubicBezTo>
                  <a:cubicBezTo>
                    <a:pt x="438723" y="1679977"/>
                    <a:pt x="439435" y="1679977"/>
                    <a:pt x="440148" y="1679617"/>
                  </a:cubicBezTo>
                  <a:cubicBezTo>
                    <a:pt x="565955" y="1633562"/>
                    <a:pt x="658618" y="1511948"/>
                    <a:pt x="660400" y="135015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49153"/>
                  </a:lnTo>
                  <a:cubicBezTo>
                    <a:pt x="1782" y="1512667"/>
                    <a:pt x="93019" y="1634282"/>
                    <a:pt x="220252" y="1679258"/>
                  </a:cubicBezTo>
                  <a:close/>
                </a:path>
              </a:pathLst>
            </a:custGeom>
            <a:solidFill>
              <a:srgbClr val="80CD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660400" cy="162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1347" y="0"/>
            <a:ext cx="2032466" cy="3830278"/>
            <a:chOff x="0" y="0"/>
            <a:chExt cx="660400" cy="12445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400" cy="1244555"/>
            </a:xfrm>
            <a:custGeom>
              <a:avLst/>
              <a:gdLst/>
              <a:ahLst/>
              <a:cxnLst/>
              <a:rect l="l" t="t" r="r" b="b"/>
              <a:pathLst>
                <a:path w="660400" h="1244555">
                  <a:moveTo>
                    <a:pt x="220252" y="1225486"/>
                  </a:moveTo>
                  <a:cubicBezTo>
                    <a:pt x="254109" y="1237000"/>
                    <a:pt x="292600" y="1244555"/>
                    <a:pt x="330378" y="1244555"/>
                  </a:cubicBezTo>
                  <a:cubicBezTo>
                    <a:pt x="368157" y="1244555"/>
                    <a:pt x="404509" y="1238078"/>
                    <a:pt x="438009" y="1226564"/>
                  </a:cubicBezTo>
                  <a:cubicBezTo>
                    <a:pt x="438723" y="1226205"/>
                    <a:pt x="439435" y="1226205"/>
                    <a:pt x="440148" y="1225845"/>
                  </a:cubicBezTo>
                  <a:cubicBezTo>
                    <a:pt x="565955" y="1179790"/>
                    <a:pt x="658618" y="1058176"/>
                    <a:pt x="660400" y="906462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05790"/>
                  </a:lnTo>
                  <a:cubicBezTo>
                    <a:pt x="1782" y="1058895"/>
                    <a:pt x="93019" y="1180510"/>
                    <a:pt x="220252" y="1225486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660400" cy="1174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277409"/>
            <a:ext cx="1004260" cy="1004260"/>
          </a:xfrm>
          <a:custGeom>
            <a:avLst/>
            <a:gdLst/>
            <a:ahLst/>
            <a:cxnLst/>
            <a:rect l="l" t="t" r="r" b="b"/>
            <a:pathLst>
              <a:path w="1004260" h="1004260">
                <a:moveTo>
                  <a:pt x="0" y="0"/>
                </a:moveTo>
                <a:lnTo>
                  <a:pt x="1004260" y="0"/>
                </a:lnTo>
                <a:lnTo>
                  <a:pt x="1004260" y="1004261"/>
                </a:lnTo>
                <a:lnTo>
                  <a:pt x="0" y="1004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3568338" y="8014887"/>
            <a:ext cx="11162800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9"/>
              </a:lnSpc>
            </a:pPr>
            <a:r>
              <a:rPr lang="en-US" sz="6399" spc="191">
                <a:solidFill>
                  <a:srgbClr val="36B7DA"/>
                </a:solidFill>
                <a:latin typeface="Open Sauce Heavy"/>
              </a:rPr>
              <a:t>PROCESS FLOW 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479179" y="0"/>
            <a:ext cx="3339530" cy="8588150"/>
            <a:chOff x="0" y="0"/>
            <a:chExt cx="660400" cy="169832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" cy="1698327"/>
            </a:xfrm>
            <a:custGeom>
              <a:avLst/>
              <a:gdLst/>
              <a:ahLst/>
              <a:cxnLst/>
              <a:rect l="l" t="t" r="r" b="b"/>
              <a:pathLst>
                <a:path w="660400" h="1698327">
                  <a:moveTo>
                    <a:pt x="220252" y="1679258"/>
                  </a:moveTo>
                  <a:cubicBezTo>
                    <a:pt x="254109" y="1690772"/>
                    <a:pt x="292600" y="1698327"/>
                    <a:pt x="330378" y="1698327"/>
                  </a:cubicBezTo>
                  <a:cubicBezTo>
                    <a:pt x="368157" y="1698327"/>
                    <a:pt x="404509" y="1691850"/>
                    <a:pt x="438009" y="1680336"/>
                  </a:cubicBezTo>
                  <a:cubicBezTo>
                    <a:pt x="438723" y="1679977"/>
                    <a:pt x="439435" y="1679977"/>
                    <a:pt x="440148" y="1679617"/>
                  </a:cubicBezTo>
                  <a:cubicBezTo>
                    <a:pt x="565955" y="1633562"/>
                    <a:pt x="658618" y="1511948"/>
                    <a:pt x="660400" y="135015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49153"/>
                  </a:lnTo>
                  <a:cubicBezTo>
                    <a:pt x="1782" y="1512667"/>
                    <a:pt x="93019" y="1634282"/>
                    <a:pt x="220252" y="1679258"/>
                  </a:cubicBezTo>
                  <a:close/>
                </a:path>
              </a:pathLst>
            </a:custGeom>
            <a:solidFill>
              <a:srgbClr val="97BD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660400" cy="162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3389483" y="370817"/>
            <a:ext cx="1009892" cy="910853"/>
          </a:xfrm>
          <a:custGeom>
            <a:avLst/>
            <a:gdLst/>
            <a:ahLst/>
            <a:cxnLst/>
            <a:rect l="l" t="t" r="r" b="b"/>
            <a:pathLst>
              <a:path w="1009892" h="910853">
                <a:moveTo>
                  <a:pt x="0" y="0"/>
                </a:moveTo>
                <a:lnTo>
                  <a:pt x="1009892" y="0"/>
                </a:lnTo>
                <a:lnTo>
                  <a:pt x="1009892" y="910853"/>
                </a:lnTo>
                <a:lnTo>
                  <a:pt x="0" y="910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5982746" y="654598"/>
            <a:ext cx="1252196" cy="767255"/>
          </a:xfrm>
          <a:custGeom>
            <a:avLst/>
            <a:gdLst/>
            <a:ahLst/>
            <a:cxnLst/>
            <a:rect l="l" t="t" r="r" b="b"/>
            <a:pathLst>
              <a:path w="1252196" h="767255">
                <a:moveTo>
                  <a:pt x="0" y="0"/>
                </a:moveTo>
                <a:lnTo>
                  <a:pt x="1252196" y="0"/>
                </a:lnTo>
                <a:lnTo>
                  <a:pt x="1252196" y="767254"/>
                </a:lnTo>
                <a:lnTo>
                  <a:pt x="0" y="76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016937" y="910973"/>
            <a:ext cx="1163093" cy="1051013"/>
          </a:xfrm>
          <a:custGeom>
            <a:avLst/>
            <a:gdLst/>
            <a:ahLst/>
            <a:cxnLst/>
            <a:rect l="l" t="t" r="r" b="b"/>
            <a:pathLst>
              <a:path w="1163093" h="1051013">
                <a:moveTo>
                  <a:pt x="0" y="0"/>
                </a:moveTo>
                <a:lnTo>
                  <a:pt x="1163093" y="0"/>
                </a:lnTo>
                <a:lnTo>
                  <a:pt x="1163093" y="1051013"/>
                </a:lnTo>
                <a:lnTo>
                  <a:pt x="0" y="10510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2068083" y="1144400"/>
            <a:ext cx="1271016" cy="1000636"/>
          </a:xfrm>
          <a:custGeom>
            <a:avLst/>
            <a:gdLst/>
            <a:ahLst/>
            <a:cxnLst/>
            <a:rect l="l" t="t" r="r" b="b"/>
            <a:pathLst>
              <a:path w="1271016" h="1000636">
                <a:moveTo>
                  <a:pt x="0" y="0"/>
                </a:moveTo>
                <a:lnTo>
                  <a:pt x="1271017" y="0"/>
                </a:lnTo>
                <a:lnTo>
                  <a:pt x="1271017" y="1000636"/>
                </a:lnTo>
                <a:lnTo>
                  <a:pt x="0" y="1000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5392985" y="1421852"/>
            <a:ext cx="1511917" cy="1361273"/>
          </a:xfrm>
          <a:custGeom>
            <a:avLst/>
            <a:gdLst/>
            <a:ahLst/>
            <a:cxnLst/>
            <a:rect l="l" t="t" r="r" b="b"/>
            <a:pathLst>
              <a:path w="1511917" h="1361273">
                <a:moveTo>
                  <a:pt x="0" y="0"/>
                </a:moveTo>
                <a:lnTo>
                  <a:pt x="1511918" y="0"/>
                </a:lnTo>
                <a:lnTo>
                  <a:pt x="1511918" y="1361274"/>
                </a:lnTo>
                <a:lnTo>
                  <a:pt x="0" y="1361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735148" y="1848464"/>
            <a:ext cx="24593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79">
                <a:solidFill>
                  <a:srgbClr val="FFFFFF"/>
                </a:solidFill>
                <a:latin typeface="Open Sauce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62535" y="2837410"/>
            <a:ext cx="2459375" cy="647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spc="38">
                <a:solidFill>
                  <a:srgbClr val="FFFFFF"/>
                </a:solidFill>
                <a:latin typeface="Open Sauce"/>
              </a:rPr>
              <a:t>Moving the data files into HDFS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5371" y="1484104"/>
            <a:ext cx="24593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79">
                <a:solidFill>
                  <a:srgbClr val="FFFFFF"/>
                </a:solidFill>
                <a:latin typeface="Open Sauce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47638" y="2577497"/>
            <a:ext cx="24593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79">
                <a:solidFill>
                  <a:srgbClr val="FFFFFF"/>
                </a:solidFill>
                <a:latin typeface="Open Sauce Bold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30696" y="3165705"/>
            <a:ext cx="24593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79">
                <a:solidFill>
                  <a:srgbClr val="FFFFFF"/>
                </a:solidFill>
                <a:latin typeface="Open Sauce Bold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73904" y="3874975"/>
            <a:ext cx="24593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79">
                <a:solidFill>
                  <a:srgbClr val="FFFFFF"/>
                </a:solidFill>
                <a:latin typeface="Open Sauce Bold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919257" y="4457295"/>
            <a:ext cx="24593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79">
                <a:solidFill>
                  <a:srgbClr val="FFFFFF"/>
                </a:solidFill>
                <a:latin typeface="Open Sauce Bold"/>
              </a:rPr>
              <a:t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9293" y="1886174"/>
            <a:ext cx="1795330" cy="232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7" spc="37">
                <a:solidFill>
                  <a:srgbClr val="FFFFFF"/>
                </a:solidFill>
                <a:latin typeface="Open Sauce"/>
              </a:rPr>
              <a:t>Download the dataset and Load the files in cloudera server</a:t>
            </a:r>
          </a:p>
          <a:p>
            <a:pPr algn="ctr">
              <a:lnSpc>
                <a:spcPts val="2657"/>
              </a:lnSpc>
            </a:pPr>
            <a:endParaRPr lang="en-US" sz="1897" spc="37">
              <a:solidFill>
                <a:srgbClr val="FFFFFF"/>
              </a:solidFill>
              <a:latin typeface="Open Sauce"/>
            </a:endParaRPr>
          </a:p>
          <a:p>
            <a:pPr algn="ctr">
              <a:lnSpc>
                <a:spcPts val="2657"/>
              </a:lnSpc>
            </a:pPr>
            <a:endParaRPr lang="en-US" sz="1897" spc="37">
              <a:solidFill>
                <a:srgbClr val="FFFFFF"/>
              </a:solidFill>
              <a:latin typeface="Open Sauc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5409867" y="3232380"/>
            <a:ext cx="2459375" cy="9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spc="38">
                <a:solidFill>
                  <a:srgbClr val="FFFFFF"/>
                </a:solidFill>
                <a:latin typeface="Open Sauce"/>
              </a:rPr>
              <a:t>Loading data and Creating tables in HIVE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49746" y="3840486"/>
            <a:ext cx="2459375" cy="131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spc="38">
                <a:solidFill>
                  <a:srgbClr val="FFFFFF"/>
                </a:solidFill>
                <a:latin typeface="Open Sauce"/>
              </a:rPr>
              <a:t>Connection establishment and data modelling in tableau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919257" y="5430467"/>
            <a:ext cx="2459375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spc="61">
                <a:solidFill>
                  <a:srgbClr val="FFFFFF"/>
                </a:solidFill>
                <a:latin typeface="Open Sauce"/>
              </a:rPr>
              <a:t>Predictions and insights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3904" y="4824042"/>
            <a:ext cx="245937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spc="50">
                <a:solidFill>
                  <a:srgbClr val="FFFFFF"/>
                </a:solidFill>
                <a:latin typeface="Open Sauce"/>
              </a:rPr>
              <a:t>Create visualizations in tableau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2660" y="2367117"/>
            <a:ext cx="17742680" cy="3536939"/>
          </a:xfrm>
          <a:custGeom>
            <a:avLst/>
            <a:gdLst/>
            <a:ahLst/>
            <a:cxnLst/>
            <a:rect l="l" t="t" r="r" b="b"/>
            <a:pathLst>
              <a:path w="17742680" h="3536939">
                <a:moveTo>
                  <a:pt x="0" y="0"/>
                </a:moveTo>
                <a:lnTo>
                  <a:pt x="17742680" y="0"/>
                </a:lnTo>
                <a:lnTo>
                  <a:pt x="17742680" y="3536940"/>
                </a:lnTo>
                <a:lnTo>
                  <a:pt x="0" y="3536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7148441"/>
            <a:ext cx="18288000" cy="4219718"/>
          </a:xfrm>
          <a:custGeom>
            <a:avLst/>
            <a:gdLst/>
            <a:ahLst/>
            <a:cxnLst/>
            <a:rect l="l" t="t" r="r" b="b"/>
            <a:pathLst>
              <a:path w="18288000" h="4219718">
                <a:moveTo>
                  <a:pt x="0" y="0"/>
                </a:moveTo>
                <a:lnTo>
                  <a:pt x="18288000" y="0"/>
                </a:lnTo>
                <a:lnTo>
                  <a:pt x="18288000" y="4219718"/>
                </a:lnTo>
                <a:lnTo>
                  <a:pt x="0" y="4219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2688" b="-110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915450" y="595313"/>
            <a:ext cx="124571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>
                <a:solidFill>
                  <a:srgbClr val="000000"/>
                </a:solidFill>
                <a:latin typeface="Open Sauce"/>
              </a:rPr>
              <a:t>DATA MODELLING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5711" y="1258536"/>
            <a:ext cx="14116578" cy="8355607"/>
          </a:xfrm>
          <a:custGeom>
            <a:avLst/>
            <a:gdLst/>
            <a:ahLst/>
            <a:cxnLst/>
            <a:rect l="l" t="t" r="r" b="b"/>
            <a:pathLst>
              <a:path w="14116578" h="8355607">
                <a:moveTo>
                  <a:pt x="0" y="0"/>
                </a:moveTo>
                <a:lnTo>
                  <a:pt x="14116578" y="0"/>
                </a:lnTo>
                <a:lnTo>
                  <a:pt x="14116578" y="8355607"/>
                </a:lnTo>
                <a:lnTo>
                  <a:pt x="0" y="8355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33311" y="132713"/>
            <a:ext cx="12047171" cy="96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spc="111">
                <a:solidFill>
                  <a:srgbClr val="FFFFFF"/>
                </a:solidFill>
                <a:latin typeface="Open Sauce"/>
              </a:rPr>
              <a:t>Drivers with Highest Risk Factors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5711" y="9708740"/>
            <a:ext cx="14116578" cy="54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2"/>
              </a:lnSpc>
              <a:spcBef>
                <a:spcPct val="0"/>
              </a:spcBef>
            </a:pPr>
            <a:r>
              <a:rPr lang="en-US" sz="1717">
                <a:solidFill>
                  <a:srgbClr val="FFFFFF"/>
                </a:solidFill>
                <a:latin typeface="Open Sauce Bold Italics"/>
              </a:rPr>
              <a:t>Driver A97 has the highest risk, however based on data it is considered outlier. Northern part of california has more drivers with higher risk factors.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3200276"/>
          </a:xfrm>
          <a:prstGeom prst="rect">
            <a:avLst/>
          </a:prstGeom>
          <a:solidFill>
            <a:srgbClr val="000000">
              <a:alpha val="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91966" y="1152583"/>
            <a:ext cx="14104068" cy="8368204"/>
          </a:xfrm>
          <a:custGeom>
            <a:avLst/>
            <a:gdLst/>
            <a:ahLst/>
            <a:cxnLst/>
            <a:rect l="l" t="t" r="r" b="b"/>
            <a:pathLst>
              <a:path w="14104068" h="8368204">
                <a:moveTo>
                  <a:pt x="0" y="0"/>
                </a:moveTo>
                <a:lnTo>
                  <a:pt x="14104068" y="0"/>
                </a:lnTo>
                <a:lnTo>
                  <a:pt x="14104068" y="8368204"/>
                </a:lnTo>
                <a:lnTo>
                  <a:pt x="0" y="8368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115209"/>
            <a:ext cx="11563293" cy="91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31"/>
              </a:lnSpc>
            </a:pPr>
            <a:r>
              <a:rPr lang="en-US" sz="5639">
                <a:solidFill>
                  <a:srgbClr val="000000"/>
                </a:solidFill>
                <a:latin typeface="Open Sauce"/>
              </a:rPr>
              <a:t>Truck Model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0627" y="9625562"/>
            <a:ext cx="14446746" cy="2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uce Bold Italics"/>
              </a:rPr>
              <a:t>After the first 10,00 miles, it s better to service the truck for every 1,500 miles to keep our average number of events below 10.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75117" y="1028700"/>
            <a:ext cx="14063515" cy="8636603"/>
          </a:xfrm>
          <a:custGeom>
            <a:avLst/>
            <a:gdLst/>
            <a:ahLst/>
            <a:cxnLst/>
            <a:rect l="l" t="t" r="r" b="b"/>
            <a:pathLst>
              <a:path w="14063515" h="8636603">
                <a:moveTo>
                  <a:pt x="0" y="0"/>
                </a:moveTo>
                <a:lnTo>
                  <a:pt x="14063515" y="0"/>
                </a:lnTo>
                <a:lnTo>
                  <a:pt x="14063515" y="8636603"/>
                </a:lnTo>
                <a:lnTo>
                  <a:pt x="0" y="863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89433" y="136156"/>
            <a:ext cx="15669867" cy="78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54"/>
              </a:lnSpc>
              <a:spcBef>
                <a:spcPct val="0"/>
              </a:spcBef>
            </a:pPr>
            <a:r>
              <a:rPr lang="en-US" sz="4610" spc="92">
                <a:solidFill>
                  <a:srgbClr val="FFFFFF"/>
                </a:solidFill>
                <a:latin typeface="Open Sauce"/>
              </a:rPr>
              <a:t>Top Performers with High Mileage and low Riskfactor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384" y="9758912"/>
            <a:ext cx="16643033" cy="2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  <a:spcBef>
                <a:spcPct val="0"/>
              </a:spcBef>
            </a:pPr>
            <a:r>
              <a:rPr lang="en-US" sz="1817">
                <a:solidFill>
                  <a:srgbClr val="FBFBFB"/>
                </a:solidFill>
                <a:latin typeface="Open Sauce Bold Italics"/>
              </a:rPr>
              <a:t>These drivers are able to cover long distances while minimizing risky driving behaviors, such as speeding, harsh braking, or unsafe lane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2823917"/>
          </a:xfrm>
          <a:prstGeom prst="rect">
            <a:avLst/>
          </a:prstGeom>
          <a:solidFill>
            <a:srgbClr val="13538A">
              <a:alpha val="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57462" y="1411959"/>
            <a:ext cx="13096877" cy="7533883"/>
          </a:xfrm>
          <a:custGeom>
            <a:avLst/>
            <a:gdLst/>
            <a:ahLst/>
            <a:cxnLst/>
            <a:rect l="l" t="t" r="r" b="b"/>
            <a:pathLst>
              <a:path w="13096877" h="7533883">
                <a:moveTo>
                  <a:pt x="0" y="0"/>
                </a:moveTo>
                <a:lnTo>
                  <a:pt x="13096876" y="0"/>
                </a:lnTo>
                <a:lnTo>
                  <a:pt x="13096876" y="7533883"/>
                </a:lnTo>
                <a:lnTo>
                  <a:pt x="0" y="7533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82751" y="119063"/>
            <a:ext cx="16230600" cy="90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12"/>
              </a:lnSpc>
            </a:pPr>
            <a:r>
              <a:rPr lang="en-US" sz="5625">
                <a:solidFill>
                  <a:srgbClr val="000000"/>
                </a:solidFill>
                <a:latin typeface="Open Sauce"/>
              </a:rPr>
              <a:t>Drivers with Top Miles and their Riskfactor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57462" y="9248775"/>
            <a:ext cx="13096877" cy="87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831">
                <a:solidFill>
                  <a:srgbClr val="000000"/>
                </a:solidFill>
                <a:latin typeface="Open Sauce Bold Italics"/>
              </a:rPr>
              <a:t>ID’s with high Riskfactor are likely those exceeding the mileage/speed risk criteria. They pose a potentially higher risk due to the combination of risky driving behavior and extensive time spent on the road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endParaRPr lang="en-US" sz="1831">
              <a:solidFill>
                <a:srgbClr val="000000"/>
              </a:solidFill>
              <a:latin typeface="Open Sauce Bold Itali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0383" y="240931"/>
            <a:ext cx="15669867" cy="78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54"/>
              </a:lnSpc>
              <a:spcBef>
                <a:spcPct val="0"/>
              </a:spcBef>
            </a:pPr>
            <a:r>
              <a:rPr lang="en-US" sz="4610" spc="92">
                <a:solidFill>
                  <a:srgbClr val="FFFFFF"/>
                </a:solidFill>
                <a:latin typeface="Open Sauce"/>
              </a:rPr>
              <a:t>Miles and Gas - based on Demography. </a:t>
            </a:r>
          </a:p>
        </p:txBody>
      </p:sp>
      <p:sp>
        <p:nvSpPr>
          <p:cNvPr id="3" name="Freeform 3"/>
          <p:cNvSpPr/>
          <p:nvPr/>
        </p:nvSpPr>
        <p:spPr>
          <a:xfrm>
            <a:off x="937878" y="1028700"/>
            <a:ext cx="16934878" cy="8442637"/>
          </a:xfrm>
          <a:custGeom>
            <a:avLst/>
            <a:gdLst/>
            <a:ahLst/>
            <a:cxnLst/>
            <a:rect l="l" t="t" r="r" b="b"/>
            <a:pathLst>
              <a:path w="16934878" h="8442637">
                <a:moveTo>
                  <a:pt x="0" y="0"/>
                </a:moveTo>
                <a:lnTo>
                  <a:pt x="16934877" y="0"/>
                </a:lnTo>
                <a:lnTo>
                  <a:pt x="16934877" y="8442637"/>
                </a:lnTo>
                <a:lnTo>
                  <a:pt x="0" y="844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93263" y="9713962"/>
            <a:ext cx="17520524" cy="28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  <a:spcBef>
                <a:spcPct val="0"/>
              </a:spcBef>
            </a:pPr>
            <a:r>
              <a:rPr lang="en-US" sz="1817">
                <a:solidFill>
                  <a:srgbClr val="FBFBFB"/>
                </a:solidFill>
                <a:latin typeface="Open Sauce Bold Italics"/>
              </a:rPr>
              <a:t>Data-driven insights from geographical analysis and model comparison enable optimized transportation performance . Willits stands as a good example.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35502" y="1225620"/>
            <a:ext cx="14016996" cy="8229131"/>
          </a:xfrm>
          <a:custGeom>
            <a:avLst/>
            <a:gdLst/>
            <a:ahLst/>
            <a:cxnLst/>
            <a:rect l="l" t="t" r="r" b="b"/>
            <a:pathLst>
              <a:path w="14016996" h="8229131">
                <a:moveTo>
                  <a:pt x="0" y="0"/>
                </a:moveTo>
                <a:lnTo>
                  <a:pt x="14016996" y="0"/>
                </a:lnTo>
                <a:lnTo>
                  <a:pt x="14016996" y="8229132"/>
                </a:lnTo>
                <a:lnTo>
                  <a:pt x="0" y="8229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79950"/>
            <a:ext cx="182880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anva Sans"/>
              </a:rPr>
              <a:t>Regression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" y="9710010"/>
            <a:ext cx="18288000" cy="57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uce Bold Italics"/>
              </a:rPr>
              <a:t>The regression model explains 99% of the variation shown in this data, therefore we will be able to get better understanding of the risk provided, we have total miles and previous events.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4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29101" y="5133975"/>
            <a:ext cx="15229798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5400000">
            <a:off x="5557612" y="5506946"/>
            <a:ext cx="7163252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29101" y="2006283"/>
            <a:ext cx="1408268" cy="126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79"/>
              </a:lnSpc>
            </a:pPr>
            <a:r>
              <a:rPr lang="en-US" sz="8799">
                <a:solidFill>
                  <a:srgbClr val="FBFBFB"/>
                </a:solidFill>
                <a:latin typeface="Open Sauce Bold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0224" y="1901507"/>
            <a:ext cx="4754151" cy="15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Open Sauce Bold"/>
              </a:rPr>
              <a:t>THE COMPANY SHOULD CONSIDER REPLACING THE TRUCKS THAT ARE AT HIGH RISK TO IMPROVE SAFETY.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6301" y="2006283"/>
            <a:ext cx="1408268" cy="126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79"/>
              </a:lnSpc>
            </a:pPr>
            <a:r>
              <a:rPr lang="en-US" sz="8799">
                <a:solidFill>
                  <a:srgbClr val="FBFBFB"/>
                </a:solidFill>
                <a:latin typeface="Open Sauce Bold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04748" y="1901507"/>
            <a:ext cx="4754151" cy="234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Open Sauce Bold"/>
              </a:rPr>
              <a:t>THE RISK FACTOR FOR ACCIDENTS DEPENDS NOT ONLY ON THE DRIVER BUT ALSO ON THE MODEL OF THE TRUCK AND THE CITY WHERE IT OPERATES.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12951" y="5793094"/>
            <a:ext cx="1408268" cy="126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>
                <a:solidFill>
                  <a:srgbClr val="FBFBFB"/>
                </a:solidFill>
                <a:latin typeface="Open Sauce Bold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9101" y="5793094"/>
            <a:ext cx="1408268" cy="126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79"/>
              </a:lnSpc>
            </a:pPr>
            <a:r>
              <a:rPr lang="en-US" sz="8799">
                <a:solidFill>
                  <a:srgbClr val="FBFBFB"/>
                </a:solidFill>
                <a:latin typeface="Open Sauce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7548" y="5688319"/>
            <a:ext cx="4754151" cy="2731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Open Sauce Bold"/>
              </a:rPr>
              <a:t>THE COMPANY SHOULD PAY CLOSER ATTENTION TO EVENTS BECAUSE OUR ANALYSIS HAS SHOWN THAT THEY ARE ONE OF THE REASONS FOR THE HIGH-RISK FACTOR.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083171" y="8896643"/>
            <a:ext cx="2204829" cy="139035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41858" y="103575"/>
            <a:ext cx="5063742" cy="1127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68"/>
              </a:lnSpc>
              <a:spcBef>
                <a:spcPct val="0"/>
              </a:spcBef>
            </a:pPr>
            <a:r>
              <a:rPr lang="en-US" sz="6620" spc="132" dirty="0">
                <a:solidFill>
                  <a:srgbClr val="FBFBFB"/>
                </a:solidFill>
                <a:latin typeface="Open Sauce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11794" y="5688319"/>
            <a:ext cx="5720577" cy="31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Open Sauce Bold"/>
              </a:rPr>
              <a:t>TO MINIMIZE THE RISKS ASSOCIATED WITH DRIVING UNDER CHALLENGING CONDITIONS, IT IS RECOMMENDED TO LOWER THE SPEED OF THE TRUCKS TO IMPROVE THEIR MANEUVERABILITY AND POTENTIALLY REDUCE THE FREQUENCY OF ACCIDENTS.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9100" y="1079612"/>
            <a:ext cx="6700499" cy="284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62"/>
              </a:lnSpc>
              <a:spcBef>
                <a:spcPct val="0"/>
              </a:spcBef>
            </a:pPr>
            <a:r>
              <a:rPr lang="en-US" sz="1817" dirty="0">
                <a:solidFill>
                  <a:srgbClr val="FBFBFB"/>
                </a:solidFill>
                <a:latin typeface="Open Sauce Bold"/>
              </a:rPr>
              <a:t>_______________________________________________________________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3520" y="1590911"/>
            <a:ext cx="2651835" cy="2651835"/>
          </a:xfrm>
          <a:custGeom>
            <a:avLst/>
            <a:gdLst/>
            <a:ahLst/>
            <a:cxnLst/>
            <a:rect l="l" t="t" r="r" b="b"/>
            <a:pathLst>
              <a:path w="2651835" h="2651835">
                <a:moveTo>
                  <a:pt x="0" y="0"/>
                </a:moveTo>
                <a:lnTo>
                  <a:pt x="2651835" y="0"/>
                </a:lnTo>
                <a:lnTo>
                  <a:pt x="2651835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637321" y="2636321"/>
            <a:ext cx="7650679" cy="7650679"/>
            <a:chOff x="0" y="0"/>
            <a:chExt cx="3331210" cy="3331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4"/>
              <a:stretch>
                <a:fillRect l="-25000" r="-250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55514" y="2688229"/>
            <a:ext cx="10434893" cy="199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6141"/>
              </a:lnSpc>
            </a:pPr>
            <a:r>
              <a:rPr lang="en-US" sz="11529" spc="703">
                <a:solidFill>
                  <a:srgbClr val="FFFFFF"/>
                </a:solidFill>
                <a:latin typeface="Now Bold"/>
              </a:rPr>
              <a:t>THANK YOU </a:t>
            </a:r>
          </a:p>
        </p:txBody>
      </p:sp>
      <p:sp>
        <p:nvSpPr>
          <p:cNvPr id="6" name="Freeform 6"/>
          <p:cNvSpPr/>
          <p:nvPr/>
        </p:nvSpPr>
        <p:spPr>
          <a:xfrm>
            <a:off x="-789475" y="-570381"/>
            <a:ext cx="2651835" cy="2651835"/>
          </a:xfrm>
          <a:custGeom>
            <a:avLst/>
            <a:gdLst/>
            <a:ahLst/>
            <a:cxnLst/>
            <a:rect l="l" t="t" r="r" b="b"/>
            <a:pathLst>
              <a:path w="2651835" h="2651835">
                <a:moveTo>
                  <a:pt x="0" y="0"/>
                </a:moveTo>
                <a:lnTo>
                  <a:pt x="2651836" y="0"/>
                </a:lnTo>
                <a:lnTo>
                  <a:pt x="2651836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456</Words>
  <Application>Microsoft Macintosh PowerPoint</Application>
  <PresentationFormat>Custom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Open Sauce Bold</vt:lpstr>
      <vt:lpstr>Canva Sans</vt:lpstr>
      <vt:lpstr>Open Sauce</vt:lpstr>
      <vt:lpstr>Arial</vt:lpstr>
      <vt:lpstr>Open Sauce Heavy</vt:lpstr>
      <vt:lpstr>Now Bold</vt:lpstr>
      <vt:lpstr>Open Sauce Bold Italics</vt:lpstr>
      <vt:lpstr>Calibri</vt:lpstr>
      <vt:lpstr>Open Sauce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Trucking Business Logistics Visual Charts Presentation in White and Blue Light Simple Style</dc:title>
  <cp:lastModifiedBy>Bhosale, Sanjeel Sandeep</cp:lastModifiedBy>
  <cp:revision>4</cp:revision>
  <dcterms:created xsi:type="dcterms:W3CDTF">2006-08-16T00:00:00Z</dcterms:created>
  <dcterms:modified xsi:type="dcterms:W3CDTF">2026-01-19T05:02:28Z</dcterms:modified>
  <dc:identifier>DAGDBCjxZuo</dc:identifier>
</cp:coreProperties>
</file>